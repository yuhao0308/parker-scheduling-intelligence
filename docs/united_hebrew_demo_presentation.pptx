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This demo is designed to show two things clearly.</a:t>
            </a:r>
          </a:p>
          <a:p>
            <a:pPr>
              <a:defRPr sz="1200">
                <a:latin typeface="Aptos"/>
              </a:defRPr>
            </a:pPr>
            <a:r>
              <a:t>First, the monthly scheduler is not assigning people randomly. It is using explicit rules and explicit weighted math.</a:t>
            </a:r>
          </a:p>
          <a:p>
            <a:pPr>
              <a:defRPr sz="1200">
                <a:latin typeface="Aptos"/>
              </a:defRPr>
            </a:pPr>
            <a:r>
              <a:t>Second, the recommendation engine uses the same explainable logic, but with more real-time signals for urgent call-out decisions.</a:t>
            </a:r>
          </a:p>
          <a:p>
            <a:pPr>
              <a:defRPr sz="1200">
                <a:latin typeface="Aptos"/>
              </a:defRPr>
            </a:pPr>
          </a:p>
          <a:p>
            <a:pPr>
              <a:defRPr sz="1200">
                <a:latin typeface="Aptos"/>
              </a:defRPr>
            </a:pPr>
            <a:r>
              <a:t>To make the math concrete, I will use one seeded employee example in both workflows: Maria Santos, employee ID CNA013.</a:t>
            </a:r>
          </a:p>
          <a:p>
            <a:pPr>
              <a:defRPr sz="1200">
                <a:latin typeface="Aptos"/>
              </a:defRPr>
            </a:pPr>
            <a:r>
              <a:t>She is a full-time CNA whose home unit is U-LT4, which is a Long-Term unit, and her hire date is October 1, 2018.</a:t>
            </a:r>
          </a:p>
          <a:p>
            <a:pPr>
              <a:defRPr sz="1200">
                <a:latin typeface="Aptos"/>
              </a:defRPr>
            </a:pPr>
          </a:p>
          <a:p>
            <a:pPr>
              <a:defRPr sz="1200">
                <a:latin typeface="Aptos"/>
              </a:defRPr>
            </a:pPr>
            <a:r>
              <a:t>That way, the audience does not just hear the factor names. They can see how one actual employee would be evaluated and how the score is calculated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Before going into the formulas, I want to frame the system at a high level.</a:t>
            </a:r>
          </a:p>
          <a:p>
            <a:pPr>
              <a:defRPr sz="1200">
                <a:latin typeface="Aptos"/>
              </a:defRPr>
            </a:pPr>
            <a:r>
              <a:t>There are two workflows.</a:t>
            </a:r>
          </a:p>
          <a:p>
            <a:pPr>
              <a:defRPr sz="1200">
                <a:latin typeface="Aptos"/>
              </a:defRPr>
            </a:pPr>
          </a:p>
          <a:p>
            <a:pPr>
              <a:defRPr sz="1200">
                <a:latin typeface="Aptos"/>
              </a:defRPr>
            </a:pPr>
            <a:r>
              <a:t>The monthly scheduler is for planned staffing. It starts with the month, the units, and the available staff, and it decides who should be assigned shift by shift.</a:t>
            </a:r>
          </a:p>
          <a:p>
            <a:pPr>
              <a:defRPr sz="1200">
                <a:latin typeface="Aptos"/>
              </a:defRPr>
            </a:pPr>
          </a:p>
          <a:p>
            <a:pPr>
              <a:defRPr sz="1200">
                <a:latin typeface="Aptos"/>
              </a:defRPr>
            </a:pPr>
            <a:r>
              <a:t>The recommendation engine is for urgent staffing. It starts when someone calls out, then it removes everyone who is not eligible, scores the valid people, ranks them, and explains why they appear in that order.</a:t>
            </a:r>
          </a:p>
          <a:p>
            <a:pPr>
              <a:defRPr sz="1200">
                <a:latin typeface="Aptos"/>
              </a:defRPr>
            </a:pPr>
          </a:p>
          <a:p>
            <a:pPr>
              <a:defRPr sz="1200">
                <a:latin typeface="Aptos"/>
              </a:defRPr>
            </a:pPr>
            <a:r>
              <a:t>The important point is that both workflows share the same philosophy:</a:t>
            </a:r>
          </a:p>
          <a:p>
            <a:pPr>
              <a:defRPr sz="1200">
                <a:latin typeface="Aptos"/>
              </a:defRPr>
            </a:pPr>
            <a:r>
              <a:t>first filter, then score, then rank, while keeping the final decision human-controlled.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This slide shows the exact monthly scheduling logic.</a:t>
            </a:r>
          </a:p>
          <a:p>
            <a:pPr>
              <a:defRPr sz="1200">
                <a:latin typeface="Aptos"/>
              </a:defRPr>
            </a:pPr>
          </a:p>
          <a:p>
            <a:pPr>
              <a:defRPr sz="1200">
                <a:latin typeface="Aptos"/>
              </a:defRPr>
            </a:pPr>
            <a:r>
              <a:t>The scheduler does not start by scoring everybody.</a:t>
            </a:r>
          </a:p>
          <a:p>
            <a:pPr>
              <a:defRPr sz="1200">
                <a:latin typeface="Aptos"/>
              </a:defRPr>
            </a:pPr>
            <a:r>
              <a:t>It first determines the preferred staffing bucket for the unit type.</a:t>
            </a:r>
          </a:p>
          <a:p>
            <a:pPr>
              <a:defRPr sz="1200">
                <a:latin typeface="Aptos"/>
              </a:defRPr>
            </a:pPr>
            <a:r>
              <a:t>For Subacute it prefers licensed staff first.</a:t>
            </a:r>
          </a:p>
          <a:p>
            <a:pPr>
              <a:defRPr sz="1200">
                <a:latin typeface="Aptos"/>
              </a:defRPr>
            </a:pPr>
            <a:r>
              <a:t>For Long-Term it prefers certified staff first.</a:t>
            </a:r>
          </a:p>
          <a:p>
            <a:pPr>
              <a:defRPr sz="1200">
                <a:latin typeface="Aptos"/>
              </a:defRPr>
            </a:pPr>
          </a:p>
          <a:p>
            <a:pPr>
              <a:defRPr sz="1200">
                <a:latin typeface="Aptos"/>
              </a:defRPr>
            </a:pPr>
            <a:r>
              <a:t>Then it applies hard filters.</a:t>
            </a:r>
          </a:p>
          <a:p>
            <a:pPr>
              <a:defRPr sz="1200">
                <a:latin typeface="Aptos"/>
              </a:defRPr>
            </a:pPr>
            <a:r>
              <a:t>If a person is in the wrong bucket, already scheduled, blocked by the rest window, or would break the weekly cap, they are removed completely.</a:t>
            </a:r>
          </a:p>
          <a:p>
            <a:pPr>
              <a:defRPr sz="1200">
                <a:latin typeface="Aptos"/>
              </a:defRPr>
            </a:pPr>
          </a:p>
          <a:p>
            <a:pPr>
              <a:defRPr sz="1200">
                <a:latin typeface="Aptos"/>
              </a:defRPr>
            </a:pPr>
            <a:r>
              <a:t>Only after that do we score the surviving candidates.</a:t>
            </a:r>
          </a:p>
          <a:p>
            <a:pPr>
              <a:defRPr sz="1200">
                <a:latin typeface="Aptos"/>
              </a:defRPr>
            </a:pPr>
            <a:r>
              <a:t>The monthly formula is:</a:t>
            </a:r>
          </a:p>
          <a:p>
            <a:pPr>
              <a:defRPr sz="1200">
                <a:latin typeface="Aptos"/>
              </a:defRPr>
            </a:pPr>
            <a:r>
              <a:t>MonthlyScore equals 0.45 times overtime headroom, plus 0.22 times clinical fit, minus 0.13 times float penalty, plus 0.05 times 0.5.</a:t>
            </a:r>
          </a:p>
          <a:p>
            <a:pPr>
              <a:defRPr sz="1200">
                <a:latin typeface="Aptos"/>
              </a:defRPr>
            </a:pPr>
          </a:p>
          <a:p>
            <a:pPr>
              <a:defRPr sz="1200">
                <a:latin typeface="Aptos"/>
              </a:defRPr>
            </a:pPr>
            <a:r>
              <a:t>That last term comes from proximity, but in monthly scheduling proximity is fixed to 0.5 for everyone, so it is effectively neutral.</a:t>
            </a:r>
          </a:p>
          <a:p>
            <a:pPr>
              <a:defRPr sz="1200">
                <a:latin typeface="Aptos"/>
              </a:defRPr>
            </a:pPr>
            <a:r>
              <a:t>In practical terms, the monthly scheduler is mainly driven by overtime headroom, clinical fit, and float penalty.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Now I want to show the actual math using one employee.</a:t>
            </a:r>
          </a:p>
          <a:p>
            <a:pPr>
              <a:defRPr sz="1200">
                <a:latin typeface="Aptos"/>
              </a:defRPr>
            </a:pPr>
          </a:p>
          <a:p>
            <a:pPr>
              <a:defRPr sz="1200">
                <a:latin typeface="Aptos"/>
              </a:defRPr>
            </a:pPr>
            <a:r>
              <a:t>Suppose we are filling a Day shift in U-LT4, a Long-Term unit.</a:t>
            </a:r>
          </a:p>
          <a:p>
            <a:pPr>
              <a:defRPr sz="1200">
                <a:latin typeface="Aptos"/>
              </a:defRPr>
            </a:pPr>
            <a:r>
              <a:t>Maria Santos is a CNA, so she is in the correct preferred bucket for Long-Term.</a:t>
            </a:r>
          </a:p>
          <a:p>
            <a:pPr>
              <a:defRPr sz="1200">
                <a:latin typeface="Aptos"/>
              </a:defRPr>
            </a:pPr>
          </a:p>
          <a:p>
            <a:pPr>
              <a:defRPr sz="1200">
                <a:latin typeface="Aptos"/>
              </a:defRPr>
            </a:pPr>
            <a:r>
              <a:t>Before we even score her, we test the weekly cap.</a:t>
            </a:r>
          </a:p>
          <a:p>
            <a:pPr>
              <a:defRPr sz="1200">
                <a:latin typeface="Aptos"/>
              </a:defRPr>
            </a:pPr>
            <a:r>
              <a:t>She already has 8.25 generated hours in that week, and adding one more shift makes 16.5.</a:t>
            </a:r>
          </a:p>
          <a:p>
            <a:pPr>
              <a:defRPr sz="1200">
                <a:latin typeface="Aptos"/>
              </a:defRPr>
            </a:pPr>
            <a:r>
              <a:t>That is still below the full-time cap of 41.25, so she passes.</a:t>
            </a:r>
          </a:p>
          <a:p>
            <a:pPr>
              <a:defRPr sz="1200">
                <a:latin typeface="Aptos"/>
              </a:defRPr>
            </a:pPr>
          </a:p>
          <a:p>
            <a:pPr>
              <a:defRPr sz="1200">
                <a:latin typeface="Aptos"/>
              </a:defRPr>
            </a:pPr>
            <a:r>
              <a:t>For scoring, her cycle hours plus current generated-week hours give 33.0.</a:t>
            </a:r>
          </a:p>
          <a:p>
            <a:pPr>
              <a:defRPr sz="1200">
                <a:latin typeface="Aptos"/>
              </a:defRPr>
            </a:pPr>
            <a:r>
              <a:t>Because 33.0 is still below the 37.5 weekly overtime threshold, her overtime headroom is 1.0.</a:t>
            </a:r>
          </a:p>
          <a:p>
            <a:pPr>
              <a:defRPr sz="1200">
                <a:latin typeface="Aptos"/>
              </a:defRPr>
            </a:pPr>
            <a:r>
              <a:t>Her clinical fit is 1.0 because U-LT4 is her home unit.</a:t>
            </a:r>
          </a:p>
          <a:p>
            <a:pPr>
              <a:defRPr sz="1200">
                <a:latin typeface="Aptos"/>
              </a:defRPr>
            </a:pPr>
            <a:r>
              <a:t>Her float penalty is 0 because she is not floating away from home.</a:t>
            </a:r>
          </a:p>
          <a:p>
            <a:pPr>
              <a:defRPr sz="1200">
                <a:latin typeface="Aptos"/>
              </a:defRPr>
            </a:pPr>
            <a:r>
              <a:t>Proximity is fixed to 0.5 in monthly scheduling.</a:t>
            </a:r>
          </a:p>
          <a:p>
            <a:pPr>
              <a:defRPr sz="1200">
                <a:latin typeface="Aptos"/>
              </a:defRPr>
            </a:pPr>
          </a:p>
          <a:p>
            <a:pPr>
              <a:defRPr sz="1200">
                <a:latin typeface="Aptos"/>
              </a:defRPr>
            </a:pPr>
            <a:r>
              <a:t>So the final math is:</a:t>
            </a:r>
          </a:p>
          <a:p>
            <a:pPr>
              <a:defRPr sz="1200">
                <a:latin typeface="Aptos"/>
              </a:defRPr>
            </a:pPr>
            <a:r>
              <a:t>0.45 times 1.0, plus 0.22 times 1.0, minus 0.13 times 0, plus 0.05 times 0.5.</a:t>
            </a:r>
          </a:p>
          <a:p>
            <a:pPr>
              <a:defRPr sz="1200">
                <a:latin typeface="Aptos"/>
              </a:defRPr>
            </a:pPr>
            <a:r>
              <a:t>That equals 0.695.</a:t>
            </a:r>
          </a:p>
          <a:p>
            <a:pPr>
              <a:defRPr sz="1200">
                <a:latin typeface="Aptos"/>
              </a:defRPr>
            </a:pPr>
          </a:p>
          <a:p>
            <a:pPr>
              <a:defRPr sz="1200">
                <a:latin typeface="Aptos"/>
              </a:defRPr>
            </a:pPr>
            <a:r>
              <a:t>This is the exact kind of walkthrough that helps the audience understand how the scheduler chooses one person over another.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The recommendation engine uses the same idea, but it is more real-time.</a:t>
            </a:r>
          </a:p>
          <a:p>
            <a:pPr>
              <a:defRPr sz="1200">
                <a:latin typeface="Aptos"/>
              </a:defRPr>
            </a:pPr>
          </a:p>
          <a:p>
            <a:pPr>
              <a:defRPr sz="1200">
                <a:latin typeface="Aptos"/>
              </a:defRPr>
            </a:pPr>
            <a:r>
              <a:t>When someone calls out, the first step is to infer the replacement bucket from that employee.</a:t>
            </a:r>
          </a:p>
          <a:p>
            <a:pPr>
              <a:defRPr sz="1200">
                <a:latin typeface="Aptos"/>
              </a:defRPr>
            </a:pPr>
            <a:r>
              <a:t>If the call-out is certified, we only consider certified staff.</a:t>
            </a:r>
          </a:p>
          <a:p>
            <a:pPr>
              <a:defRPr sz="1200">
                <a:latin typeface="Aptos"/>
              </a:defRPr>
            </a:pPr>
            <a:r>
              <a:t>If the call-out is licensed, we only consider licensed staff.</a:t>
            </a:r>
          </a:p>
          <a:p>
            <a:pPr>
              <a:defRPr sz="1200">
                <a:latin typeface="Aptos"/>
              </a:defRPr>
            </a:pPr>
          </a:p>
          <a:p>
            <a:pPr>
              <a:defRPr sz="1200">
                <a:latin typeface="Aptos"/>
              </a:defRPr>
            </a:pPr>
            <a:r>
              <a:t>Then we apply hard filters again, but now with live context:</a:t>
            </a:r>
          </a:p>
          <a:p>
            <a:pPr>
              <a:defRPr sz="1200">
                <a:latin typeface="Aptos"/>
              </a:defRPr>
            </a:pPr>
            <a:r>
              <a:t>already scheduled staff, PTO conflicts, unit exclusions, rest-window conflicts, and source-unit coverage floors.</a:t>
            </a:r>
          </a:p>
          <a:p>
            <a:pPr>
              <a:defRPr sz="1200">
                <a:latin typeface="Aptos"/>
              </a:defRPr>
            </a:pPr>
          </a:p>
          <a:p>
            <a:pPr>
              <a:defRPr sz="1200">
                <a:latin typeface="Aptos"/>
              </a:defRPr>
            </a:pPr>
            <a:r>
              <a:t>Only then do we apply the full weighted score.</a:t>
            </a:r>
          </a:p>
          <a:p>
            <a:pPr>
              <a:defRPr sz="1200">
                <a:latin typeface="Aptos"/>
              </a:defRPr>
            </a:pPr>
            <a:r>
              <a:t>The recommendation formula includes the monthly signals plus more real-time refinement:</a:t>
            </a:r>
          </a:p>
          <a:p>
            <a:pPr>
              <a:defRPr sz="1200">
                <a:latin typeface="Aptos"/>
              </a:defRPr>
            </a:pPr>
            <a:r>
              <a:t>proximity, seniority, equity, and willingness.</a:t>
            </a:r>
          </a:p>
          <a:p>
            <a:pPr>
              <a:defRPr sz="1200">
                <a:latin typeface="Aptos"/>
              </a:defRPr>
            </a:pPr>
          </a:p>
          <a:p>
            <a:pPr>
              <a:defRPr sz="1200">
                <a:latin typeface="Aptos"/>
              </a:defRPr>
            </a:pPr>
            <a:r>
              <a:t>The important message to say aloud is that overtime is still the dominant factor at 45 percent, and clinical fit is still next at 22 percent.</a:t>
            </a:r>
          </a:p>
          <a:p>
            <a:pPr>
              <a:defRPr sz="1200">
                <a:latin typeface="Aptos"/>
              </a:defRPr>
            </a:pPr>
            <a:r>
              <a:t>The smaller factors improve the ranking quality without overpowering the core staffing priorities.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Now I will show the same employee in the recommendation engine.</a:t>
            </a:r>
          </a:p>
          <a:p>
            <a:pPr>
              <a:defRPr sz="1200">
                <a:latin typeface="Aptos"/>
              </a:defRPr>
            </a:pPr>
          </a:p>
          <a:p>
            <a:pPr>
              <a:defRPr sz="1200">
                <a:latin typeface="Aptos"/>
              </a:defRPr>
            </a:pPr>
            <a:r>
              <a:t>Suppose the call-out is a certified Day shift in U-LT1 on April 17, 2026.</a:t>
            </a:r>
          </a:p>
          <a:p>
            <a:pPr>
              <a:defRPr sz="1200">
                <a:latin typeface="Aptos"/>
              </a:defRPr>
            </a:pPr>
            <a:r>
              <a:t>Maria Santos is a CNA, so she is eligible for the certified bucket.</a:t>
            </a:r>
          </a:p>
          <a:p>
            <a:pPr>
              <a:defRPr sz="1200">
                <a:latin typeface="Aptos"/>
              </a:defRPr>
            </a:pPr>
            <a:r>
              <a:t>For this example we assume she passes the live eligibility checks: no PTO conflict, no unit exclusion, and no blocking source-unit issue.</a:t>
            </a:r>
          </a:p>
          <a:p>
            <a:pPr>
              <a:defRPr sz="1200">
                <a:latin typeface="Aptos"/>
              </a:defRPr>
            </a:pPr>
          </a:p>
          <a:p>
            <a:pPr>
              <a:defRPr sz="1200">
                <a:latin typeface="Aptos"/>
              </a:defRPr>
            </a:pPr>
            <a:r>
              <a:t>Now we calculate her normalized values.</a:t>
            </a:r>
          </a:p>
          <a:p>
            <a:pPr>
              <a:defRPr sz="1200">
                <a:latin typeface="Aptos"/>
              </a:defRPr>
            </a:pPr>
            <a:r>
              <a:t>Overtime headroom is 1.0 because her current hours are still below the threshold.</a:t>
            </a:r>
          </a:p>
          <a:p>
            <a:pPr>
              <a:defRPr sz="1200">
                <a:latin typeface="Aptos"/>
              </a:defRPr>
            </a:pPr>
            <a:r>
              <a:t>Clinical fit is 1.0 because she is Long-Term staff covering another Long-Term unit, which is treated as an exact typology match.</a:t>
            </a:r>
          </a:p>
          <a:p>
            <a:pPr>
              <a:defRPr sz="1200">
                <a:latin typeface="Aptos"/>
              </a:defRPr>
            </a:pPr>
            <a:r>
              <a:t>Proximity is one minus 2.87 divided by 30, which is 0.9043.</a:t>
            </a:r>
          </a:p>
          <a:p>
            <a:pPr>
              <a:defRPr sz="1200">
                <a:latin typeface="Aptos"/>
              </a:defRPr>
            </a:pPr>
            <a:r>
              <a:t>Float penalty is 0.3 because she is floating to a different unit but the same typology.</a:t>
            </a:r>
          </a:p>
          <a:p>
            <a:pPr>
              <a:defRPr sz="1200">
                <a:latin typeface="Aptos"/>
              </a:defRPr>
            </a:pPr>
            <a:r>
              <a:t>Seniority is her tenure divided by 10, capped at 1.0, so 7.54 years becomes 0.754.</a:t>
            </a:r>
          </a:p>
          <a:p>
            <a:pPr>
              <a:defRPr sz="1200">
                <a:latin typeface="Aptos"/>
              </a:defRPr>
            </a:pPr>
            <a:r>
              <a:t>Equity is 0 because she is not per diem.</a:t>
            </a:r>
          </a:p>
          <a:p>
            <a:pPr>
              <a:defRPr sz="1200">
                <a:latin typeface="Aptos"/>
              </a:defRPr>
            </a:pPr>
            <a:r>
              <a:t>Willingness is the current neutral baseline of 0.5.</a:t>
            </a:r>
          </a:p>
          <a:p>
            <a:pPr>
              <a:defRPr sz="1200">
                <a:latin typeface="Aptos"/>
              </a:defRPr>
            </a:pPr>
          </a:p>
          <a:p>
            <a:pPr>
              <a:defRPr sz="1200">
                <a:latin typeface="Aptos"/>
              </a:defRPr>
            </a:pPr>
            <a:r>
              <a:t>Then we multiply each component by its weight and sum them.</a:t>
            </a:r>
          </a:p>
          <a:p>
            <a:pPr>
              <a:defRPr sz="1200">
                <a:latin typeface="Aptos"/>
              </a:defRPr>
            </a:pPr>
            <a:r>
              <a:t>The final result is 0.7465, which displays as about 75 out of 100.</a:t>
            </a:r>
          </a:p>
          <a:p>
            <a:pPr>
              <a:defRPr sz="1200">
                <a:latin typeface="Aptos"/>
              </a:defRPr>
            </a:pPr>
          </a:p>
          <a:p>
            <a:pPr>
              <a:defRPr sz="1200">
                <a:latin typeface="Aptos"/>
              </a:defRPr>
            </a:pPr>
            <a:r>
              <a:t>This is the most important part of the demo, because it shows that the engine can be audited and explained one person at a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If there is pushback or detailed questioning, I want to close on three points.</a:t>
            </a:r>
          </a:p>
          <a:p>
            <a:pPr>
              <a:defRPr sz="1200">
                <a:latin typeface="Aptos"/>
              </a:defRPr>
            </a:pPr>
          </a:p>
          <a:p>
            <a:pPr>
              <a:defRPr sz="1200">
                <a:latin typeface="Aptos"/>
              </a:defRPr>
            </a:pPr>
            <a:r>
              <a:t>First, the math is transparent.</a:t>
            </a:r>
          </a:p>
          <a:p>
            <a:pPr>
              <a:defRPr sz="1200">
                <a:latin typeface="Aptos"/>
              </a:defRPr>
            </a:pPr>
            <a:r>
              <a:t>We can calculate one employee's score by hand, which makes the system easier to trust and easier to refine.</a:t>
            </a:r>
          </a:p>
          <a:p>
            <a:pPr>
              <a:defRPr sz="1200">
                <a:latin typeface="Aptos"/>
              </a:defRPr>
            </a:pPr>
          </a:p>
          <a:p>
            <a:pPr>
              <a:defRPr sz="1200">
                <a:latin typeface="Aptos"/>
              </a:defRPr>
            </a:pPr>
            <a:r>
              <a:t>Second, the engine is operationally realistic.</a:t>
            </a:r>
          </a:p>
          <a:p>
            <a:pPr>
              <a:defRPr sz="1200">
                <a:latin typeface="Aptos"/>
              </a:defRPr>
            </a:pPr>
            <a:r>
              <a:t>It works from the current database state, and if the staffing situation is genuinely constrained, it shows the gap instead of hiding it.</a:t>
            </a:r>
          </a:p>
          <a:p>
            <a:pPr>
              <a:defRPr sz="1200">
                <a:latin typeface="Aptos"/>
              </a:defRPr>
            </a:pPr>
          </a:p>
          <a:p>
            <a:pPr>
              <a:defRPr sz="1200">
                <a:latin typeface="Aptos"/>
              </a:defRPr>
            </a:pPr>
            <a:r>
              <a:t>Third, it keeps human control.</a:t>
            </a:r>
          </a:p>
          <a:p>
            <a:pPr>
              <a:defRPr sz="1200">
                <a:latin typeface="Aptos"/>
              </a:defRPr>
            </a:pPr>
            <a:r>
              <a:t>The coordinator still makes the decision.</a:t>
            </a:r>
          </a:p>
          <a:p>
            <a:pPr>
              <a:defRPr sz="1200">
                <a:latin typeface="Aptos"/>
              </a:defRPr>
            </a:pPr>
            <a:r>
              <a:t>The system is there to make that decision faster, more consistent, and more explainable.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United Hebrew Scheduling Intelligence</a:t>
            </a:r>
          </a:p>
          <a:p>
            <a:r>
              <a:rPr sz="1100">
                <a:solidFill>
                  <a:srgbClr val="676E76"/>
                </a:solidFill>
                <a:latin typeface="Aptos"/>
              </a:rPr>
              <a:t>Scheduler math and recommendation math, presented as an explainable intelligence layer</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627632"/>
            <a:ext cx="3383280" cy="2788920"/>
          </a:xfrm>
          <a:prstGeom prst="roundRect">
            <a:avLst/>
          </a:prstGeom>
          <a:solidFill>
            <a:srgbClr val="FFFFFF"/>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Business focus</a:t>
            </a:r>
          </a:p>
          <a:p>
            <a:pPr>
              <a:spcAft>
                <a:spcPts val="150"/>
              </a:spcAft>
              <a:defRPr sz="1100">
                <a:solidFill>
                  <a:srgbClr val="1B2025"/>
                </a:solidFill>
                <a:latin typeface="Aptos"/>
              </a:defRPr>
            </a:pPr>
            <a:r>
              <a:t>Monthly schedule generation</a:t>
            </a:r>
          </a:p>
          <a:p>
            <a:pPr>
              <a:spcAft>
                <a:spcPts val="150"/>
              </a:spcAft>
              <a:defRPr sz="1100">
                <a:solidFill>
                  <a:srgbClr val="1B2025"/>
                </a:solidFill>
                <a:latin typeface="Aptos"/>
              </a:defRPr>
            </a:pPr>
            <a:r>
              <a:t>Same-day call-out replacement</a:t>
            </a:r>
          </a:p>
          <a:p>
            <a:pPr>
              <a:spcAft>
                <a:spcPts val="150"/>
              </a:spcAft>
              <a:defRPr sz="1100">
                <a:solidFill>
                  <a:srgbClr val="1B2025"/>
                </a:solidFill>
                <a:latin typeface="Aptos"/>
              </a:defRPr>
            </a:pPr>
            <a:r>
              <a:t>Lower avoidable overtime</a:t>
            </a:r>
          </a:p>
          <a:p>
            <a:pPr>
              <a:spcAft>
                <a:spcPts val="150"/>
              </a:spcAft>
              <a:defRPr sz="1100">
                <a:solidFill>
                  <a:srgbClr val="1B2025"/>
                </a:solidFill>
                <a:latin typeface="Aptos"/>
              </a:defRPr>
            </a:pPr>
            <a:r>
              <a:t>More consistent staffing decisions</a:t>
            </a:r>
          </a:p>
        </p:txBody>
      </p:sp>
      <p:sp>
        <p:nvSpPr>
          <p:cNvPr id="5" name="Rounded Rectangle 4"/>
          <p:cNvSpPr/>
          <p:nvPr/>
        </p:nvSpPr>
        <p:spPr>
          <a:xfrm>
            <a:off x="4407408" y="1627632"/>
            <a:ext cx="3246120" cy="278892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What makes it credible</a:t>
            </a:r>
          </a:p>
          <a:p>
            <a:pPr>
              <a:spcAft>
                <a:spcPts val="150"/>
              </a:spcAft>
              <a:defRPr sz="1100">
                <a:solidFill>
                  <a:srgbClr val="1B2025"/>
                </a:solidFill>
                <a:latin typeface="Aptos"/>
              </a:defRPr>
            </a:pPr>
            <a:r>
              <a:t>Rule-driven filtering before scoring</a:t>
            </a:r>
          </a:p>
          <a:p>
            <a:pPr>
              <a:spcAft>
                <a:spcPts val="150"/>
              </a:spcAft>
              <a:defRPr sz="1100">
                <a:solidFill>
                  <a:srgbClr val="1B2025"/>
                </a:solidFill>
                <a:latin typeface="Aptos"/>
              </a:defRPr>
            </a:pPr>
            <a:r>
              <a:t>Weighted ranking with visible math</a:t>
            </a:r>
          </a:p>
          <a:p>
            <a:pPr>
              <a:spcAft>
                <a:spcPts val="150"/>
              </a:spcAft>
              <a:defRPr sz="1100">
                <a:solidFill>
                  <a:srgbClr val="1B2025"/>
                </a:solidFill>
                <a:latin typeface="Aptos"/>
              </a:defRPr>
            </a:pPr>
            <a:r>
              <a:t>Plain-language rationale for each output</a:t>
            </a:r>
          </a:p>
          <a:p>
            <a:pPr>
              <a:spcAft>
                <a:spcPts val="150"/>
              </a:spcAft>
              <a:defRPr sz="1100">
                <a:solidFill>
                  <a:srgbClr val="1B2025"/>
                </a:solidFill>
                <a:latin typeface="Aptos"/>
              </a:defRPr>
            </a:pPr>
            <a:r>
              <a:t>Human decision remains in control</a:t>
            </a:r>
          </a:p>
        </p:txBody>
      </p:sp>
      <p:sp>
        <p:nvSpPr>
          <p:cNvPr id="6" name="Rounded Rectangle 5"/>
          <p:cNvSpPr/>
          <p:nvPr/>
        </p:nvSpPr>
        <p:spPr>
          <a:xfrm>
            <a:off x="7927848" y="1627632"/>
            <a:ext cx="3429000" cy="2788920"/>
          </a:xfrm>
          <a:prstGeom prst="roundRect">
            <a:avLst/>
          </a:prstGeom>
          <a:solidFill>
            <a:srgbClr val="E8F1EC"/>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Anchor employee used in both examples</a:t>
            </a:r>
          </a:p>
          <a:p>
            <a:pPr>
              <a:spcAft>
                <a:spcPts val="150"/>
              </a:spcAft>
              <a:defRPr sz="1100">
                <a:solidFill>
                  <a:srgbClr val="1B2025"/>
                </a:solidFill>
                <a:latin typeface="Aptos"/>
              </a:defRPr>
            </a:pPr>
            <a:r>
              <a:t>Maria Santos (CNA013)</a:t>
            </a:r>
          </a:p>
          <a:p>
            <a:pPr>
              <a:spcAft>
                <a:spcPts val="150"/>
              </a:spcAft>
              <a:defRPr sz="1100">
                <a:solidFill>
                  <a:srgbClr val="1B2025"/>
                </a:solidFill>
                <a:latin typeface="Aptos"/>
              </a:defRPr>
            </a:pPr>
            <a:r>
              <a:t>Full-Time</a:t>
            </a:r>
          </a:p>
          <a:p>
            <a:pPr>
              <a:spcAft>
                <a:spcPts val="150"/>
              </a:spcAft>
              <a:defRPr sz="1100">
                <a:solidFill>
                  <a:srgbClr val="1B2025"/>
                </a:solidFill>
                <a:latin typeface="Aptos"/>
              </a:defRPr>
            </a:pPr>
            <a:r>
              <a:t>Home unit: U-LT4</a:t>
            </a:r>
          </a:p>
          <a:p>
            <a:pPr>
              <a:spcAft>
                <a:spcPts val="150"/>
              </a:spcAft>
              <a:defRPr sz="1100">
                <a:solidFill>
                  <a:srgbClr val="1B2025"/>
                </a:solidFill>
                <a:latin typeface="Aptos"/>
              </a:defRPr>
            </a:pPr>
            <a:r>
              <a:t>Home typology: Long-Term</a:t>
            </a:r>
          </a:p>
          <a:p>
            <a:pPr>
              <a:spcAft>
                <a:spcPts val="150"/>
              </a:spcAft>
              <a:defRPr sz="1100">
                <a:solidFill>
                  <a:srgbClr val="1B2025"/>
                </a:solidFill>
                <a:latin typeface="Aptos"/>
              </a:defRPr>
            </a:pPr>
            <a:r>
              <a:t>Hire date: 2018-10-01</a:t>
            </a:r>
          </a:p>
        </p:txBody>
      </p:sp>
      <p:sp>
        <p:nvSpPr>
          <p:cNvPr id="7" name="TextBox 6"/>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Every score component is normalized to 0-1 before applying weights.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System View</a:t>
            </a:r>
          </a:p>
          <a:p>
            <a:r>
              <a:rPr sz="1100">
                <a:solidFill>
                  <a:srgbClr val="676E76"/>
                </a:solidFill>
                <a:latin typeface="Aptos"/>
              </a:rPr>
              <a:t>Two workflows, one explainable scoring foundation</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600200"/>
            <a:ext cx="3383280" cy="4251960"/>
          </a:xfrm>
          <a:prstGeom prst="roundRect">
            <a:avLst/>
          </a:prstGeom>
          <a:solidFill>
            <a:srgbClr val="FFFFFF"/>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Monthly scheduler</a:t>
            </a:r>
          </a:p>
          <a:p>
            <a:pPr>
              <a:spcAft>
                <a:spcPts val="150"/>
              </a:spcAft>
              <a:defRPr sz="1100">
                <a:solidFill>
                  <a:srgbClr val="1B2025"/>
                </a:solidFill>
                <a:latin typeface="Aptos"/>
              </a:defRPr>
            </a:pPr>
            <a:r>
              <a:t>Input: staff pool, units, hours ledger, home unit, cross-training, scoring weights</a:t>
            </a:r>
          </a:p>
          <a:p>
            <a:pPr>
              <a:spcAft>
                <a:spcPts val="150"/>
              </a:spcAft>
              <a:defRPr sz="1100">
                <a:solidFill>
                  <a:srgbClr val="1B2025"/>
                </a:solidFill>
                <a:latin typeface="Aptos"/>
              </a:defRPr>
            </a:pPr>
            <a:r>
              <a:t>Decision path: filter -&gt; score -&gt; assign</a:t>
            </a:r>
          </a:p>
          <a:p>
            <a:pPr>
              <a:spcAft>
                <a:spcPts val="150"/>
              </a:spcAft>
              <a:defRPr sz="1100">
                <a:solidFill>
                  <a:srgbClr val="1B2025"/>
                </a:solidFill>
                <a:latin typeface="Aptos"/>
              </a:defRPr>
            </a:pPr>
            <a:r>
              <a:t>Primary signals: overtime headroom, clinical fit, float penalty</a:t>
            </a:r>
          </a:p>
          <a:p>
            <a:pPr>
              <a:spcAft>
                <a:spcPts val="150"/>
              </a:spcAft>
              <a:defRPr sz="1100">
                <a:solidFill>
                  <a:srgbClr val="1B2025"/>
                </a:solidFill>
                <a:latin typeface="Aptos"/>
              </a:defRPr>
            </a:pPr>
            <a:r>
              <a:t>Output: best possible month from the current database state</a:t>
            </a:r>
          </a:p>
        </p:txBody>
      </p:sp>
      <p:sp>
        <p:nvSpPr>
          <p:cNvPr id="5" name="Rounded Rectangle 4"/>
          <p:cNvSpPr/>
          <p:nvPr/>
        </p:nvSpPr>
        <p:spPr>
          <a:xfrm>
            <a:off x="4407408" y="1600200"/>
            <a:ext cx="3246120" cy="425196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Recommendation engine</a:t>
            </a:r>
          </a:p>
          <a:p>
            <a:pPr>
              <a:spcAft>
                <a:spcPts val="150"/>
              </a:spcAft>
              <a:defRPr sz="1100">
                <a:solidFill>
                  <a:srgbClr val="1B2025"/>
                </a:solidFill>
                <a:latin typeface="Aptos"/>
              </a:defRPr>
            </a:pPr>
            <a:r>
              <a:t>Input: call-out employee, target shift, PTO, exclusions, current schedule context</a:t>
            </a:r>
          </a:p>
          <a:p>
            <a:pPr>
              <a:spcAft>
                <a:spcPts val="150"/>
              </a:spcAft>
              <a:defRPr sz="1100">
                <a:solidFill>
                  <a:srgbClr val="1B2025"/>
                </a:solidFill>
                <a:latin typeface="Aptos"/>
              </a:defRPr>
            </a:pPr>
            <a:r>
              <a:t>Decision path: filter -&gt; score -&gt; rank -&gt; explain</a:t>
            </a:r>
          </a:p>
          <a:p>
            <a:pPr>
              <a:spcAft>
                <a:spcPts val="150"/>
              </a:spcAft>
              <a:defRPr sz="1100">
                <a:solidFill>
                  <a:srgbClr val="1B2025"/>
                </a:solidFill>
                <a:latin typeface="Aptos"/>
              </a:defRPr>
            </a:pPr>
            <a:r>
              <a:t>Primary signals: scheduler signals plus proximity, seniority, equity, willingness</a:t>
            </a:r>
          </a:p>
          <a:p>
            <a:pPr>
              <a:spcAft>
                <a:spcPts val="150"/>
              </a:spcAft>
              <a:defRPr sz="1100">
                <a:solidFill>
                  <a:srgbClr val="1B2025"/>
                </a:solidFill>
                <a:latin typeface="Aptos"/>
              </a:defRPr>
            </a:pPr>
            <a:r>
              <a:t>Output: ranked replacement list with rationale</a:t>
            </a:r>
          </a:p>
        </p:txBody>
      </p:sp>
      <p:sp>
        <p:nvSpPr>
          <p:cNvPr id="6" name="Rounded Rectangle 5"/>
          <p:cNvSpPr/>
          <p:nvPr/>
        </p:nvSpPr>
        <p:spPr>
          <a:xfrm>
            <a:off x="7927848" y="1600200"/>
            <a:ext cx="3429000" cy="425196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Shared philosophy</a:t>
            </a:r>
          </a:p>
          <a:p>
            <a:pPr>
              <a:spcAft>
                <a:spcPts val="150"/>
              </a:spcAft>
              <a:defRPr sz="1200">
                <a:solidFill>
                  <a:srgbClr val="1B2025"/>
                </a:solidFill>
                <a:latin typeface="Aptos Mono"/>
              </a:defRPr>
            </a:pPr>
            <a:r>
              <a:t>1. Remove unsafe options first</a:t>
            </a:r>
          </a:p>
          <a:p>
            <a:pPr>
              <a:spcAft>
                <a:spcPts val="150"/>
              </a:spcAft>
              <a:defRPr sz="1200">
                <a:solidFill>
                  <a:srgbClr val="1B2025"/>
                </a:solidFill>
                <a:latin typeface="Aptos Mono"/>
              </a:defRPr>
            </a:pPr>
            <a:r>
              <a:t>2. Score only the eligible staff</a:t>
            </a:r>
          </a:p>
          <a:p>
            <a:pPr>
              <a:spcAft>
                <a:spcPts val="150"/>
              </a:spcAft>
              <a:defRPr sz="1200">
                <a:solidFill>
                  <a:srgbClr val="1B2025"/>
                </a:solidFill>
                <a:latin typeface="Aptos Mono"/>
              </a:defRPr>
            </a:pPr>
            <a:r>
              <a:t>3. Rank by weighted total</a:t>
            </a:r>
          </a:p>
          <a:p>
            <a:pPr>
              <a:spcAft>
                <a:spcPts val="150"/>
              </a:spcAft>
              <a:defRPr sz="1200">
                <a:solidFill>
                  <a:srgbClr val="1B2025"/>
                </a:solidFill>
                <a:latin typeface="Aptos Mono"/>
              </a:defRPr>
            </a:pPr>
            <a:r>
              <a:t>4. Keep the final decision human</a:t>
            </a:r>
          </a:p>
          <a:p>
            <a:pPr>
              <a:defRPr sz="1000">
                <a:solidFill>
                  <a:srgbClr val="676E76"/>
                </a:solidFill>
                <a:latin typeface="Aptos"/>
              </a:defRPr>
            </a:pPr>
            <a:r>
              <a:t>The purpose of the demo is not to present a black box. It is to present an explainable staffing engine.</a:t>
            </a:r>
          </a:p>
        </p:txBody>
      </p:sp>
      <p:sp>
        <p:nvSpPr>
          <p:cNvPr id="7" name="TextBox 6"/>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This structure is useful in demos because it matches how customers naturally ask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Monthly Scheduler</a:t>
            </a:r>
          </a:p>
          <a:p>
            <a:r>
              <a:rPr sz="1100">
                <a:solidFill>
                  <a:srgbClr val="676E76"/>
                </a:solidFill>
                <a:latin typeface="Aptos"/>
              </a:rPr>
              <a:t>Decision rules and exact score formula</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591056"/>
            <a:ext cx="3383280" cy="4343400"/>
          </a:xfrm>
          <a:prstGeom prst="roundRect">
            <a:avLst/>
          </a:prstGeom>
          <a:solidFill>
            <a:srgbClr val="FFFFFF"/>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Eligibility before scoring</a:t>
            </a:r>
          </a:p>
          <a:p>
            <a:pPr>
              <a:spcAft>
                <a:spcPts val="150"/>
              </a:spcAft>
              <a:defRPr sz="1100">
                <a:solidFill>
                  <a:srgbClr val="1B2025"/>
                </a:solidFill>
                <a:latin typeface="Aptos"/>
              </a:defRPr>
            </a:pPr>
            <a:r>
              <a:t>Preferred bucket by unit type</a:t>
            </a:r>
          </a:p>
          <a:p>
            <a:pPr>
              <a:spcAft>
                <a:spcPts val="150"/>
              </a:spcAft>
              <a:defRPr sz="1100">
                <a:solidFill>
                  <a:srgbClr val="1B2025"/>
                </a:solidFill>
                <a:latin typeface="Aptos"/>
              </a:defRPr>
            </a:pPr>
            <a:r>
              <a:t>Subacute -&gt; licensed first</a:t>
            </a:r>
          </a:p>
          <a:p>
            <a:pPr>
              <a:spcAft>
                <a:spcPts val="150"/>
              </a:spcAft>
              <a:defRPr sz="1100">
                <a:solidFill>
                  <a:srgbClr val="1B2025"/>
                </a:solidFill>
                <a:latin typeface="Aptos"/>
              </a:defRPr>
            </a:pPr>
            <a:r>
              <a:t>Long-Term -&gt; certified first</a:t>
            </a:r>
          </a:p>
          <a:p>
            <a:pPr>
              <a:spcAft>
                <a:spcPts val="150"/>
              </a:spcAft>
              <a:defRPr sz="1100">
                <a:solidFill>
                  <a:srgbClr val="1B2025"/>
                </a:solidFill>
                <a:latin typeface="Aptos"/>
              </a:defRPr>
            </a:pPr>
            <a:r>
              <a:t>Then remove: wrong bucket, already scheduled, rest-window conflict, weekly-cap violation</a:t>
            </a:r>
          </a:p>
        </p:txBody>
      </p:sp>
      <p:sp>
        <p:nvSpPr>
          <p:cNvPr id="5" name="Rounded Rectangle 4"/>
          <p:cNvSpPr/>
          <p:nvPr/>
        </p:nvSpPr>
        <p:spPr>
          <a:xfrm>
            <a:off x="4407408" y="1591056"/>
            <a:ext cx="3246120" cy="214884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Weekly cap test</a:t>
            </a:r>
          </a:p>
          <a:p>
            <a:pPr>
              <a:spcAft>
                <a:spcPts val="150"/>
              </a:spcAft>
              <a:defRPr sz="1200">
                <a:solidFill>
                  <a:srgbClr val="1B2025"/>
                </a:solidFill>
                <a:latin typeface="Aptos Mono"/>
              </a:defRPr>
            </a:pPr>
            <a:r>
              <a:t>current_weekly_hours + 8.25 &lt;= weekly_cap</a:t>
            </a:r>
          </a:p>
          <a:p>
            <a:pPr>
              <a:spcAft>
                <a:spcPts val="150"/>
              </a:spcAft>
              <a:defRPr sz="1200">
                <a:solidFill>
                  <a:srgbClr val="1B2025"/>
                </a:solidFill>
                <a:latin typeface="Aptos Mono"/>
              </a:defRPr>
            </a:pPr>
            <a:r>
              <a:t>FT cap = 41.25</a:t>
            </a:r>
          </a:p>
          <a:p>
            <a:pPr>
              <a:spcAft>
                <a:spcPts val="150"/>
              </a:spcAft>
              <a:defRPr sz="1200">
                <a:solidFill>
                  <a:srgbClr val="1B2025"/>
                </a:solidFill>
                <a:latin typeface="Aptos Mono"/>
              </a:defRPr>
            </a:pPr>
            <a:r>
              <a:t>PT cap = 24.75</a:t>
            </a:r>
          </a:p>
          <a:p>
            <a:pPr>
              <a:spcAft>
                <a:spcPts val="150"/>
              </a:spcAft>
              <a:defRPr sz="1200">
                <a:solidFill>
                  <a:srgbClr val="1B2025"/>
                </a:solidFill>
                <a:latin typeface="Aptos Mono"/>
              </a:defRPr>
            </a:pPr>
            <a:r>
              <a:t>PER_DIEM cap = 41.25</a:t>
            </a:r>
          </a:p>
        </p:txBody>
      </p:sp>
      <p:sp>
        <p:nvSpPr>
          <p:cNvPr id="6" name="Rounded Rectangle 5"/>
          <p:cNvSpPr/>
          <p:nvPr/>
        </p:nvSpPr>
        <p:spPr>
          <a:xfrm>
            <a:off x="4407408" y="3886200"/>
            <a:ext cx="3246120" cy="205740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Monthly score</a:t>
            </a:r>
          </a:p>
          <a:p>
            <a:pPr>
              <a:spcAft>
                <a:spcPts val="150"/>
              </a:spcAft>
              <a:defRPr sz="1200">
                <a:solidFill>
                  <a:srgbClr val="1B2025"/>
                </a:solidFill>
                <a:latin typeface="Aptos Mono"/>
              </a:defRPr>
            </a:pPr>
            <a:r>
              <a:t>MonthlyScore = 0.45*OT</a:t>
            </a:r>
          </a:p>
          <a:p>
            <a:pPr>
              <a:spcAft>
                <a:spcPts val="150"/>
              </a:spcAft>
              <a:defRPr sz="1200">
                <a:solidFill>
                  <a:srgbClr val="1B2025"/>
                </a:solidFill>
                <a:latin typeface="Aptos Mono"/>
              </a:defRPr>
            </a:pPr>
            <a:r>
              <a:t>              + 0.22*ClinicalFit</a:t>
            </a:r>
          </a:p>
          <a:p>
            <a:pPr>
              <a:spcAft>
                <a:spcPts val="150"/>
              </a:spcAft>
              <a:defRPr sz="1200">
                <a:solidFill>
                  <a:srgbClr val="1B2025"/>
                </a:solidFill>
                <a:latin typeface="Aptos Mono"/>
              </a:defRPr>
            </a:pPr>
            <a:r>
              <a:t>              - 0.13*FloatPenalty</a:t>
            </a:r>
          </a:p>
          <a:p>
            <a:pPr>
              <a:spcAft>
                <a:spcPts val="150"/>
              </a:spcAft>
              <a:defRPr sz="1200">
                <a:solidFill>
                  <a:srgbClr val="1B2025"/>
                </a:solidFill>
                <a:latin typeface="Aptos Mono"/>
              </a:defRPr>
            </a:pPr>
            <a:r>
              <a:t>              + 0.05*0.5</a:t>
            </a:r>
          </a:p>
          <a:p>
            <a:pPr>
              <a:defRPr sz="1000">
                <a:solidFill>
                  <a:srgbClr val="676E76"/>
                </a:solidFill>
                <a:latin typeface="Aptos"/>
              </a:defRPr>
            </a:pPr>
            <a:r>
              <a:t>Proximity is fixed to 0.5 in monthly scheduling, so it is effectively neutral for ranking.</a:t>
            </a:r>
          </a:p>
        </p:txBody>
      </p:sp>
      <p:sp>
        <p:nvSpPr>
          <p:cNvPr id="7" name="Rounded Rectangle 6"/>
          <p:cNvSpPr/>
          <p:nvPr/>
        </p:nvSpPr>
        <p:spPr>
          <a:xfrm>
            <a:off x="7927848" y="1591056"/>
            <a:ext cx="3429000" cy="4343400"/>
          </a:xfrm>
          <a:prstGeom prst="roundRect">
            <a:avLst/>
          </a:prstGeom>
          <a:solidFill>
            <a:srgbClr val="E8F1EC"/>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Interpretation</a:t>
            </a:r>
          </a:p>
          <a:p>
            <a:pPr>
              <a:spcAft>
                <a:spcPts val="150"/>
              </a:spcAft>
              <a:defRPr sz="1100">
                <a:solidFill>
                  <a:srgbClr val="1B2025"/>
                </a:solidFill>
                <a:latin typeface="Aptos"/>
              </a:defRPr>
            </a:pPr>
            <a:r>
              <a:t>OT headroom carries the largest weight.</a:t>
            </a:r>
          </a:p>
          <a:p>
            <a:pPr>
              <a:spcAft>
                <a:spcPts val="150"/>
              </a:spcAft>
              <a:defRPr sz="1100">
                <a:solidFill>
                  <a:srgbClr val="1B2025"/>
                </a:solidFill>
                <a:latin typeface="Aptos"/>
              </a:defRPr>
            </a:pPr>
            <a:r>
              <a:t>Clinical fit protects the unit context.</a:t>
            </a:r>
          </a:p>
          <a:p>
            <a:pPr>
              <a:spcAft>
                <a:spcPts val="150"/>
              </a:spcAft>
              <a:defRPr sz="1100">
                <a:solidFill>
                  <a:srgbClr val="1B2025"/>
                </a:solidFill>
                <a:latin typeface="Aptos"/>
              </a:defRPr>
            </a:pPr>
            <a:r>
              <a:t>Float penalty discourages unnecessary movement.</a:t>
            </a:r>
          </a:p>
          <a:p>
            <a:pPr>
              <a:spcAft>
                <a:spcPts val="150"/>
              </a:spcAft>
              <a:defRPr sz="1100">
                <a:solidFill>
                  <a:srgbClr val="1B2025"/>
                </a:solidFill>
                <a:latin typeface="Aptos"/>
              </a:defRPr>
            </a:pPr>
            <a:r>
              <a:t>If nobody survives the filters, the gap stays visible rather than being hidden by a bad assignment.</a:t>
            </a:r>
          </a:p>
        </p:txBody>
      </p:sp>
      <p:sp>
        <p:nvSpPr>
          <p:cNvPr id="8" name="TextBox 7"/>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Operational day runs 11 PM to 11 PM, so Night shift belongs to the next operational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Monthly Scheduler Example</a:t>
            </a:r>
          </a:p>
          <a:p>
            <a:r>
              <a:rPr sz="1100">
                <a:solidFill>
                  <a:srgbClr val="676E76"/>
                </a:solidFill>
                <a:latin typeface="Aptos"/>
              </a:rPr>
              <a:t>Maria Santos scored for one Long-Term shift</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600200"/>
            <a:ext cx="3246120" cy="4251960"/>
          </a:xfrm>
          <a:prstGeom prst="roundRect">
            <a:avLst/>
          </a:prstGeom>
          <a:solidFill>
            <a:srgbClr val="FFFFFF"/>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Scenario</a:t>
            </a:r>
          </a:p>
          <a:p>
            <a:pPr>
              <a:spcAft>
                <a:spcPts val="150"/>
              </a:spcAft>
              <a:defRPr sz="1100">
                <a:solidFill>
                  <a:srgbClr val="1B2025"/>
                </a:solidFill>
                <a:latin typeface="Aptos"/>
              </a:defRPr>
            </a:pPr>
            <a:r>
              <a:t>Target slot: U-LT4 Day</a:t>
            </a:r>
          </a:p>
          <a:p>
            <a:pPr>
              <a:spcAft>
                <a:spcPts val="150"/>
              </a:spcAft>
              <a:defRPr sz="1100">
                <a:solidFill>
                  <a:srgbClr val="1B2025"/>
                </a:solidFill>
                <a:latin typeface="Aptos"/>
              </a:defRPr>
            </a:pPr>
            <a:r>
              <a:t>Unit type: Long-Term</a:t>
            </a:r>
          </a:p>
          <a:p>
            <a:pPr>
              <a:spcAft>
                <a:spcPts val="150"/>
              </a:spcAft>
              <a:defRPr sz="1100">
                <a:solidFill>
                  <a:srgbClr val="1B2025"/>
                </a:solidFill>
                <a:latin typeface="Aptos"/>
              </a:defRPr>
            </a:pPr>
            <a:r>
              <a:t>Maria license: CNA -&gt; correct preferred bucket</a:t>
            </a:r>
          </a:p>
          <a:p>
            <a:pPr>
              <a:spcAft>
                <a:spcPts val="150"/>
              </a:spcAft>
              <a:defRPr sz="1100">
                <a:solidFill>
                  <a:srgbClr val="1B2025"/>
                </a:solidFill>
                <a:latin typeface="Aptos"/>
              </a:defRPr>
            </a:pPr>
            <a:r>
              <a:t>Generated-week hours so far: 8.25</a:t>
            </a:r>
          </a:p>
          <a:p>
            <a:pPr>
              <a:spcAft>
                <a:spcPts val="150"/>
              </a:spcAft>
              <a:defRPr sz="1100">
                <a:solidFill>
                  <a:srgbClr val="1B2025"/>
                </a:solidFill>
                <a:latin typeface="Aptos"/>
              </a:defRPr>
            </a:pPr>
            <a:r>
              <a:t>Hours ledger this cycle: 24.75</a:t>
            </a:r>
          </a:p>
          <a:p>
            <a:pPr>
              <a:spcAft>
                <a:spcPts val="150"/>
              </a:spcAft>
              <a:defRPr sz="1100">
                <a:solidFill>
                  <a:srgbClr val="1B2025"/>
                </a:solidFill>
                <a:latin typeface="Aptos"/>
              </a:defRPr>
            </a:pPr>
            <a:r>
              <a:t>Home unit matches target unit</a:t>
            </a:r>
          </a:p>
        </p:txBody>
      </p:sp>
      <p:sp>
        <p:nvSpPr>
          <p:cNvPr id="5" name="Rounded Rectangle 4"/>
          <p:cNvSpPr/>
          <p:nvPr/>
        </p:nvSpPr>
        <p:spPr>
          <a:xfrm>
            <a:off x="4224528" y="1600200"/>
            <a:ext cx="3063240" cy="425196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Maria's component values</a:t>
            </a:r>
          </a:p>
          <a:p>
            <a:pPr>
              <a:spcAft>
                <a:spcPts val="150"/>
              </a:spcAft>
              <a:defRPr sz="1200">
                <a:solidFill>
                  <a:srgbClr val="1B2025"/>
                </a:solidFill>
                <a:latin typeface="Aptos Mono"/>
              </a:defRPr>
            </a:pPr>
            <a:r>
              <a:t>Weekly cap check:</a:t>
            </a:r>
          </a:p>
          <a:p>
            <a:pPr>
              <a:spcAft>
                <a:spcPts val="150"/>
              </a:spcAft>
              <a:defRPr sz="1200">
                <a:solidFill>
                  <a:srgbClr val="1B2025"/>
                </a:solidFill>
                <a:latin typeface="Aptos Mono"/>
              </a:defRPr>
            </a:pPr>
            <a:r>
              <a:t>8.25 + 8.25 &lt;= 41.25 -&gt; pass</a:t>
            </a:r>
          </a:p>
          <a:p>
            <a:pPr>
              <a:spcAft>
                <a:spcPts val="150"/>
              </a:spcAft>
              <a:defRPr sz="1200">
                <a:solidFill>
                  <a:srgbClr val="1B2025"/>
                </a:solidFill>
                <a:latin typeface="Aptos Mono"/>
              </a:defRPr>
            </a:pPr>
          </a:p>
          <a:p>
            <a:pPr>
              <a:spcAft>
                <a:spcPts val="150"/>
              </a:spcAft>
              <a:defRPr sz="1200">
                <a:solidFill>
                  <a:srgbClr val="1B2025"/>
                </a:solidFill>
                <a:latin typeface="Aptos Mono"/>
              </a:defRPr>
            </a:pPr>
            <a:r>
              <a:t>hours_for_scoring = 24.75 + 8.25 = 33.0</a:t>
            </a:r>
          </a:p>
          <a:p>
            <a:pPr>
              <a:spcAft>
                <a:spcPts val="150"/>
              </a:spcAft>
              <a:defRPr sz="1200">
                <a:solidFill>
                  <a:srgbClr val="1B2025"/>
                </a:solidFill>
                <a:latin typeface="Aptos Mono"/>
              </a:defRPr>
            </a:pPr>
            <a:r>
              <a:t>OT = 1.0</a:t>
            </a:r>
          </a:p>
          <a:p>
            <a:pPr>
              <a:spcAft>
                <a:spcPts val="150"/>
              </a:spcAft>
              <a:defRPr sz="1200">
                <a:solidFill>
                  <a:srgbClr val="1B2025"/>
                </a:solidFill>
                <a:latin typeface="Aptos Mono"/>
              </a:defRPr>
            </a:pPr>
            <a:r>
              <a:t>ClinicalFit = 1.0</a:t>
            </a:r>
          </a:p>
          <a:p>
            <a:pPr>
              <a:spcAft>
                <a:spcPts val="150"/>
              </a:spcAft>
              <a:defRPr sz="1200">
                <a:solidFill>
                  <a:srgbClr val="1B2025"/>
                </a:solidFill>
                <a:latin typeface="Aptos Mono"/>
              </a:defRPr>
            </a:pPr>
            <a:r>
              <a:t>FloatPenalty = 0.0</a:t>
            </a:r>
          </a:p>
          <a:p>
            <a:pPr>
              <a:spcAft>
                <a:spcPts val="150"/>
              </a:spcAft>
              <a:defRPr sz="1200">
                <a:solidFill>
                  <a:srgbClr val="1B2025"/>
                </a:solidFill>
                <a:latin typeface="Aptos Mono"/>
              </a:defRPr>
            </a:pPr>
            <a:r>
              <a:t>Proximity = 0.5</a:t>
            </a:r>
          </a:p>
        </p:txBody>
      </p:sp>
      <p:sp>
        <p:nvSpPr>
          <p:cNvPr id="6" name="Rounded Rectangle 5"/>
          <p:cNvSpPr/>
          <p:nvPr/>
        </p:nvSpPr>
        <p:spPr>
          <a:xfrm>
            <a:off x="7562088" y="1600200"/>
            <a:ext cx="3794760" cy="425196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Maria's final score</a:t>
            </a:r>
          </a:p>
          <a:p>
            <a:pPr>
              <a:spcAft>
                <a:spcPts val="150"/>
              </a:spcAft>
              <a:defRPr sz="1200">
                <a:solidFill>
                  <a:srgbClr val="1B2025"/>
                </a:solidFill>
                <a:latin typeface="Aptos Mono"/>
              </a:defRPr>
            </a:pPr>
            <a:r>
              <a:t>MonthlyScore = 0.45(1.0)</a:t>
            </a:r>
          </a:p>
          <a:p>
            <a:pPr>
              <a:spcAft>
                <a:spcPts val="150"/>
              </a:spcAft>
              <a:defRPr sz="1200">
                <a:solidFill>
                  <a:srgbClr val="1B2025"/>
                </a:solidFill>
                <a:latin typeface="Aptos Mono"/>
              </a:defRPr>
            </a:pPr>
            <a:r>
              <a:t>              + 0.22(1.0)</a:t>
            </a:r>
          </a:p>
          <a:p>
            <a:pPr>
              <a:spcAft>
                <a:spcPts val="150"/>
              </a:spcAft>
              <a:defRPr sz="1200">
                <a:solidFill>
                  <a:srgbClr val="1B2025"/>
                </a:solidFill>
                <a:latin typeface="Aptos Mono"/>
              </a:defRPr>
            </a:pPr>
            <a:r>
              <a:t>              - 0.13(0.0)</a:t>
            </a:r>
          </a:p>
          <a:p>
            <a:pPr>
              <a:spcAft>
                <a:spcPts val="150"/>
              </a:spcAft>
              <a:defRPr sz="1200">
                <a:solidFill>
                  <a:srgbClr val="1B2025"/>
                </a:solidFill>
                <a:latin typeface="Aptos Mono"/>
              </a:defRPr>
            </a:pPr>
            <a:r>
              <a:t>              + 0.05(0.5)</a:t>
            </a:r>
          </a:p>
          <a:p>
            <a:pPr>
              <a:spcAft>
                <a:spcPts val="150"/>
              </a:spcAft>
              <a:defRPr sz="1200">
                <a:solidFill>
                  <a:srgbClr val="1B2025"/>
                </a:solidFill>
                <a:latin typeface="Aptos Mono"/>
              </a:defRPr>
            </a:pPr>
          </a:p>
          <a:p>
            <a:pPr>
              <a:spcAft>
                <a:spcPts val="150"/>
              </a:spcAft>
              <a:defRPr sz="1200">
                <a:solidFill>
                  <a:srgbClr val="1B2025"/>
                </a:solidFill>
                <a:latin typeface="Aptos Mono"/>
              </a:defRPr>
            </a:pPr>
            <a:r>
              <a:t>            = 0.45 + 0.22 + 0 + 0.025</a:t>
            </a:r>
          </a:p>
          <a:p>
            <a:pPr>
              <a:spcAft>
                <a:spcPts val="150"/>
              </a:spcAft>
              <a:defRPr sz="1200">
                <a:solidFill>
                  <a:srgbClr val="1B2025"/>
                </a:solidFill>
                <a:latin typeface="Aptos Mono"/>
              </a:defRPr>
            </a:pPr>
            <a:r>
              <a:t>            = 0.695</a:t>
            </a:r>
          </a:p>
          <a:p>
            <a:pPr>
              <a:spcAft>
                <a:spcPts val="150"/>
              </a:spcAft>
              <a:defRPr sz="1200">
                <a:solidFill>
                  <a:srgbClr val="1B2025"/>
                </a:solidFill>
                <a:latin typeface="Aptos Mono"/>
              </a:defRPr>
            </a:pPr>
          </a:p>
          <a:p>
            <a:pPr>
              <a:spcAft>
                <a:spcPts val="150"/>
              </a:spcAft>
              <a:defRPr sz="1200">
                <a:solidFill>
                  <a:srgbClr val="1B2025"/>
                </a:solidFill>
                <a:latin typeface="Aptos Mono"/>
              </a:defRPr>
            </a:pPr>
            <a:r>
              <a:t>Displayed intuition: 69.5/100</a:t>
            </a:r>
          </a:p>
          <a:p>
            <a:pPr>
              <a:defRPr sz="1000">
                <a:solidFill>
                  <a:srgbClr val="676E76"/>
                </a:solidFill>
                <a:latin typeface="Aptos"/>
              </a:defRPr>
            </a:pPr>
            <a:r>
              <a:t>Maria scores well because she still has straight-time headroom, she is a perfect unit fit, and she creates no float penalty.</a:t>
            </a:r>
          </a:p>
        </p:txBody>
      </p:sp>
      <p:sp>
        <p:nvSpPr>
          <p:cNvPr id="7" name="TextBox 6"/>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The scheduler repeats this calculation for every surviving candidate and assigns the highest total.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Recommendation Engine</a:t>
            </a:r>
          </a:p>
          <a:p>
            <a:r>
              <a:rPr sz="1100">
                <a:solidFill>
                  <a:srgbClr val="676E76"/>
                </a:solidFill>
                <a:latin typeface="Aptos"/>
              </a:rPr>
              <a:t>Real-time filters and full ranking formula</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591056"/>
            <a:ext cx="3383280" cy="4389120"/>
          </a:xfrm>
          <a:prstGeom prst="roundRect">
            <a:avLst/>
          </a:prstGeom>
          <a:solidFill>
            <a:srgbClr val="FFFFFF"/>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Hard filters first</a:t>
            </a:r>
          </a:p>
          <a:p>
            <a:pPr>
              <a:spcAft>
                <a:spcPts val="150"/>
              </a:spcAft>
              <a:defRPr sz="1100">
                <a:solidFill>
                  <a:srgbClr val="1B2025"/>
                </a:solidFill>
                <a:latin typeface="Aptos"/>
              </a:defRPr>
            </a:pPr>
            <a:r>
              <a:t>Infer licensed or certified bucket from the employee who called out</a:t>
            </a:r>
          </a:p>
          <a:p>
            <a:pPr>
              <a:spcAft>
                <a:spcPts val="150"/>
              </a:spcAft>
              <a:defRPr sz="1100">
                <a:solidFill>
                  <a:srgbClr val="1B2025"/>
                </a:solidFill>
                <a:latin typeface="Aptos"/>
              </a:defRPr>
            </a:pPr>
            <a:r>
              <a:t>Remove wrong bucket</a:t>
            </a:r>
          </a:p>
          <a:p>
            <a:pPr>
              <a:spcAft>
                <a:spcPts val="150"/>
              </a:spcAft>
              <a:defRPr sz="1100">
                <a:solidFill>
                  <a:srgbClr val="1B2025"/>
                </a:solidFill>
                <a:latin typeface="Aptos"/>
              </a:defRPr>
            </a:pPr>
            <a:r>
              <a:t>Remove already scheduled staff</a:t>
            </a:r>
          </a:p>
          <a:p>
            <a:pPr>
              <a:spcAft>
                <a:spcPts val="150"/>
              </a:spcAft>
              <a:defRPr sz="1100">
                <a:solidFill>
                  <a:srgbClr val="1B2025"/>
                </a:solidFill>
                <a:latin typeface="Aptos"/>
              </a:defRPr>
            </a:pPr>
            <a:r>
              <a:t>Remove PTO conflicts and unit exclusions</a:t>
            </a:r>
          </a:p>
          <a:p>
            <a:pPr>
              <a:spcAft>
                <a:spcPts val="150"/>
              </a:spcAft>
              <a:defRPr sz="1100">
                <a:solidFill>
                  <a:srgbClr val="1B2025"/>
                </a:solidFill>
                <a:latin typeface="Aptos"/>
              </a:defRPr>
            </a:pPr>
            <a:r>
              <a:t>Remove rest-window conflicts</a:t>
            </a:r>
          </a:p>
          <a:p>
            <a:pPr>
              <a:spcAft>
                <a:spcPts val="150"/>
              </a:spcAft>
              <a:defRPr sz="1100">
                <a:solidFill>
                  <a:srgbClr val="1B2025"/>
                </a:solidFill>
                <a:latin typeface="Aptos"/>
              </a:defRPr>
            </a:pPr>
            <a:r>
              <a:t>Remove candidates whose removal would break source-unit minimum coverage</a:t>
            </a:r>
          </a:p>
        </p:txBody>
      </p:sp>
      <p:sp>
        <p:nvSpPr>
          <p:cNvPr id="5" name="Rounded Rectangle 4"/>
          <p:cNvSpPr/>
          <p:nvPr/>
        </p:nvSpPr>
        <p:spPr>
          <a:xfrm>
            <a:off x="4407408" y="1591056"/>
            <a:ext cx="3246120" cy="438912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Recommendation score</a:t>
            </a:r>
          </a:p>
          <a:p>
            <a:pPr>
              <a:spcAft>
                <a:spcPts val="150"/>
              </a:spcAft>
              <a:defRPr sz="1200">
                <a:solidFill>
                  <a:srgbClr val="1B2025"/>
                </a:solidFill>
                <a:latin typeface="Aptos Mono"/>
              </a:defRPr>
            </a:pPr>
            <a:r>
              <a:t>RecScore = 0.45*OT</a:t>
            </a:r>
          </a:p>
          <a:p>
            <a:pPr>
              <a:spcAft>
                <a:spcPts val="150"/>
              </a:spcAft>
              <a:defRPr sz="1200">
                <a:solidFill>
                  <a:srgbClr val="1B2025"/>
                </a:solidFill>
                <a:latin typeface="Aptos Mono"/>
              </a:defRPr>
            </a:pPr>
            <a:r>
              <a:t>         + 0.22*ClinicalFit</a:t>
            </a:r>
          </a:p>
          <a:p>
            <a:pPr>
              <a:spcAft>
                <a:spcPts val="150"/>
              </a:spcAft>
              <a:defRPr sz="1200">
                <a:solidFill>
                  <a:srgbClr val="1B2025"/>
                </a:solidFill>
                <a:latin typeface="Aptos Mono"/>
              </a:defRPr>
            </a:pPr>
            <a:r>
              <a:t>         + 0.05*Proximity</a:t>
            </a:r>
          </a:p>
          <a:p>
            <a:pPr>
              <a:spcAft>
                <a:spcPts val="150"/>
              </a:spcAft>
              <a:defRPr sz="1200">
                <a:solidFill>
                  <a:srgbClr val="1B2025"/>
                </a:solidFill>
                <a:latin typeface="Aptos Mono"/>
              </a:defRPr>
            </a:pPr>
            <a:r>
              <a:t>         + 0.08*Seniority</a:t>
            </a:r>
          </a:p>
          <a:p>
            <a:pPr>
              <a:spcAft>
                <a:spcPts val="150"/>
              </a:spcAft>
              <a:defRPr sz="1200">
                <a:solidFill>
                  <a:srgbClr val="1B2025"/>
                </a:solidFill>
                <a:latin typeface="Aptos Mono"/>
              </a:defRPr>
            </a:pPr>
            <a:r>
              <a:t>         + 0.05*Equity</a:t>
            </a:r>
          </a:p>
          <a:p>
            <a:pPr>
              <a:spcAft>
                <a:spcPts val="150"/>
              </a:spcAft>
              <a:defRPr sz="1200">
                <a:solidFill>
                  <a:srgbClr val="1B2025"/>
                </a:solidFill>
                <a:latin typeface="Aptos Mono"/>
              </a:defRPr>
            </a:pPr>
            <a:r>
              <a:t>         + 0.02*Willingness</a:t>
            </a:r>
          </a:p>
          <a:p>
            <a:pPr>
              <a:spcAft>
                <a:spcPts val="150"/>
              </a:spcAft>
              <a:defRPr sz="1200">
                <a:solidFill>
                  <a:srgbClr val="1B2025"/>
                </a:solidFill>
                <a:latin typeface="Aptos Mono"/>
              </a:defRPr>
            </a:pPr>
            <a:r>
              <a:t>         - 0.13*FloatPenalty</a:t>
            </a:r>
          </a:p>
          <a:p>
            <a:pPr>
              <a:defRPr sz="1000">
                <a:solidFill>
                  <a:srgbClr val="676E76"/>
                </a:solidFill>
                <a:latin typeface="Aptos"/>
              </a:defRPr>
            </a:pPr>
            <a:r>
              <a:t>The UI displays round(RecScore * 100).</a:t>
            </a:r>
          </a:p>
        </p:txBody>
      </p:sp>
      <p:sp>
        <p:nvSpPr>
          <p:cNvPr id="6" name="Rounded Rectangle 5"/>
          <p:cNvSpPr/>
          <p:nvPr/>
        </p:nvSpPr>
        <p:spPr>
          <a:xfrm>
            <a:off x="7927848" y="1591056"/>
            <a:ext cx="3429000" cy="4389120"/>
          </a:xfrm>
          <a:prstGeom prst="roundRect">
            <a:avLst/>
          </a:prstGeom>
          <a:solidFill>
            <a:srgbClr val="F5ECE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Signal meaning</a:t>
            </a:r>
          </a:p>
          <a:p>
            <a:pPr>
              <a:spcAft>
                <a:spcPts val="150"/>
              </a:spcAft>
              <a:defRPr sz="1100">
                <a:solidFill>
                  <a:srgbClr val="1B2025"/>
                </a:solidFill>
                <a:latin typeface="Aptos"/>
              </a:defRPr>
            </a:pPr>
            <a:r>
              <a:t>OT: avoid avoidable overtime</a:t>
            </a:r>
          </a:p>
          <a:p>
            <a:pPr>
              <a:spcAft>
                <a:spcPts val="150"/>
              </a:spcAft>
              <a:defRPr sz="1100">
                <a:solidFill>
                  <a:srgbClr val="1B2025"/>
                </a:solidFill>
                <a:latin typeface="Aptos"/>
              </a:defRPr>
            </a:pPr>
            <a:r>
              <a:t>Clinical fit: reward home unit, cross-training, and safe typology match</a:t>
            </a:r>
          </a:p>
          <a:p>
            <a:pPr>
              <a:spcAft>
                <a:spcPts val="150"/>
              </a:spcAft>
              <a:defRPr sz="1100">
                <a:solidFill>
                  <a:srgbClr val="1B2025"/>
                </a:solidFill>
                <a:latin typeface="Aptos"/>
              </a:defRPr>
            </a:pPr>
            <a:r>
              <a:t>Proximity: favor faster response, but only lightly</a:t>
            </a:r>
          </a:p>
          <a:p>
            <a:pPr>
              <a:spcAft>
                <a:spcPts val="150"/>
              </a:spcAft>
              <a:defRPr sz="1100">
                <a:solidFill>
                  <a:srgbClr val="1B2025"/>
                </a:solidFill>
                <a:latin typeface="Aptos"/>
              </a:defRPr>
            </a:pPr>
            <a:r>
              <a:t>Seniority, equity, willingness: refine rather than dominate</a:t>
            </a:r>
          </a:p>
        </p:txBody>
      </p:sp>
      <p:sp>
        <p:nvSpPr>
          <p:cNvPr id="7" name="TextBox 6"/>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The ranking is transparent because each score is broken into named components.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Recommendation Example</a:t>
            </a:r>
          </a:p>
          <a:p>
            <a:r>
              <a:rPr sz="1100">
                <a:solidFill>
                  <a:srgbClr val="676E76"/>
                </a:solidFill>
                <a:latin typeface="Aptos"/>
              </a:rPr>
              <a:t>Maria Santos scored for a certified Long-Term call-out</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572768"/>
            <a:ext cx="3154680" cy="4480560"/>
          </a:xfrm>
          <a:prstGeom prst="roundRect">
            <a:avLst/>
          </a:prstGeom>
          <a:solidFill>
            <a:srgbClr val="FFFFFF"/>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Scenario</a:t>
            </a:r>
          </a:p>
          <a:p>
            <a:pPr>
              <a:spcAft>
                <a:spcPts val="150"/>
              </a:spcAft>
              <a:defRPr sz="1100">
                <a:solidFill>
                  <a:srgbClr val="1B2025"/>
                </a:solidFill>
                <a:latin typeface="Aptos"/>
              </a:defRPr>
            </a:pPr>
            <a:r>
              <a:t>Call-out: U-LT1 Day on 2026-04-17</a:t>
            </a:r>
          </a:p>
          <a:p>
            <a:pPr>
              <a:spcAft>
                <a:spcPts val="150"/>
              </a:spcAft>
              <a:defRPr sz="1100">
                <a:solidFill>
                  <a:srgbClr val="1B2025"/>
                </a:solidFill>
                <a:latin typeface="Aptos"/>
              </a:defRPr>
            </a:pPr>
            <a:r>
              <a:t>Required bucket: certified</a:t>
            </a:r>
          </a:p>
          <a:p>
            <a:pPr>
              <a:spcAft>
                <a:spcPts val="150"/>
              </a:spcAft>
              <a:defRPr sz="1100">
                <a:solidFill>
                  <a:srgbClr val="1B2025"/>
                </a:solidFill>
                <a:latin typeface="Aptos"/>
              </a:defRPr>
            </a:pPr>
            <a:r>
              <a:t>Maria is eligible for the bucket</a:t>
            </a:r>
          </a:p>
          <a:p>
            <a:pPr>
              <a:spcAft>
                <a:spcPts val="150"/>
              </a:spcAft>
              <a:defRPr sz="1100">
                <a:solidFill>
                  <a:srgbClr val="1B2025"/>
                </a:solidFill>
                <a:latin typeface="Aptos"/>
              </a:defRPr>
            </a:pPr>
            <a:r>
              <a:t>No PTO conflict</a:t>
            </a:r>
          </a:p>
          <a:p>
            <a:pPr>
              <a:spcAft>
                <a:spcPts val="150"/>
              </a:spcAft>
              <a:defRPr sz="1100">
                <a:solidFill>
                  <a:srgbClr val="1B2025"/>
                </a:solidFill>
                <a:latin typeface="Aptos"/>
              </a:defRPr>
            </a:pPr>
            <a:r>
              <a:t>No unit exclusion</a:t>
            </a:r>
          </a:p>
          <a:p>
            <a:pPr>
              <a:spcAft>
                <a:spcPts val="150"/>
              </a:spcAft>
              <a:defRPr sz="1100">
                <a:solidFill>
                  <a:srgbClr val="1B2025"/>
                </a:solidFill>
                <a:latin typeface="Aptos"/>
              </a:defRPr>
            </a:pPr>
            <a:r>
              <a:t>Distance from 11432 to facility ZIP 11375: 2.87 miles</a:t>
            </a:r>
          </a:p>
        </p:txBody>
      </p:sp>
      <p:sp>
        <p:nvSpPr>
          <p:cNvPr id="5" name="Rounded Rectangle 4"/>
          <p:cNvSpPr/>
          <p:nvPr/>
        </p:nvSpPr>
        <p:spPr>
          <a:xfrm>
            <a:off x="4087368" y="1572768"/>
            <a:ext cx="3429000" cy="448056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Maria's normalized values</a:t>
            </a:r>
          </a:p>
          <a:p>
            <a:pPr>
              <a:spcAft>
                <a:spcPts val="150"/>
              </a:spcAft>
              <a:defRPr sz="1200">
                <a:solidFill>
                  <a:srgbClr val="1B2025"/>
                </a:solidFill>
                <a:latin typeface="Aptos Mono"/>
              </a:defRPr>
            </a:pPr>
            <a:r>
              <a:t>OT = 1.0</a:t>
            </a:r>
          </a:p>
          <a:p>
            <a:pPr>
              <a:spcAft>
                <a:spcPts val="150"/>
              </a:spcAft>
              <a:defRPr sz="1200">
                <a:solidFill>
                  <a:srgbClr val="1B2025"/>
                </a:solidFill>
                <a:latin typeface="Aptos Mono"/>
              </a:defRPr>
            </a:pPr>
            <a:r>
              <a:t>ClinicalFit = 1.0</a:t>
            </a:r>
          </a:p>
          <a:p>
            <a:pPr>
              <a:spcAft>
                <a:spcPts val="150"/>
              </a:spcAft>
              <a:defRPr sz="1200">
                <a:solidFill>
                  <a:srgbClr val="1B2025"/>
                </a:solidFill>
                <a:latin typeface="Aptos Mono"/>
              </a:defRPr>
            </a:pPr>
            <a:r>
              <a:t>Proximity = 1 - 2.87/30 = 0.9043</a:t>
            </a:r>
          </a:p>
          <a:p>
            <a:pPr>
              <a:spcAft>
                <a:spcPts val="150"/>
              </a:spcAft>
              <a:defRPr sz="1200">
                <a:solidFill>
                  <a:srgbClr val="1B2025"/>
                </a:solidFill>
                <a:latin typeface="Aptos Mono"/>
              </a:defRPr>
            </a:pPr>
            <a:r>
              <a:t>FloatPenalty = 0.3</a:t>
            </a:r>
          </a:p>
          <a:p>
            <a:pPr>
              <a:spcAft>
                <a:spcPts val="150"/>
              </a:spcAft>
              <a:defRPr sz="1200">
                <a:solidFill>
                  <a:srgbClr val="1B2025"/>
                </a:solidFill>
                <a:latin typeface="Aptos Mono"/>
              </a:defRPr>
            </a:pPr>
            <a:r>
              <a:t>Seniority = 7.54/10 = 0.754</a:t>
            </a:r>
          </a:p>
          <a:p>
            <a:pPr>
              <a:spcAft>
                <a:spcPts val="150"/>
              </a:spcAft>
              <a:defRPr sz="1200">
                <a:solidFill>
                  <a:srgbClr val="1B2025"/>
                </a:solidFill>
                <a:latin typeface="Aptos Mono"/>
              </a:defRPr>
            </a:pPr>
            <a:r>
              <a:t>Equity = 0.0</a:t>
            </a:r>
          </a:p>
          <a:p>
            <a:pPr>
              <a:spcAft>
                <a:spcPts val="150"/>
              </a:spcAft>
              <a:defRPr sz="1200">
                <a:solidFill>
                  <a:srgbClr val="1B2025"/>
                </a:solidFill>
                <a:latin typeface="Aptos Mono"/>
              </a:defRPr>
            </a:pPr>
            <a:r>
              <a:t>Willingness = 0.5</a:t>
            </a:r>
          </a:p>
          <a:p>
            <a:pPr>
              <a:defRPr sz="1000">
                <a:solidFill>
                  <a:srgbClr val="676E76"/>
                </a:solidFill>
                <a:latin typeface="Aptos"/>
              </a:defRPr>
            </a:pPr>
            <a:r>
              <a:t>Float penalty is 0.3 because the target unit differs from home unit but remains in the same Long-Term typology.</a:t>
            </a:r>
          </a:p>
        </p:txBody>
      </p:sp>
      <p:sp>
        <p:nvSpPr>
          <p:cNvPr id="6" name="Rounded Rectangle 5"/>
          <p:cNvSpPr/>
          <p:nvPr/>
        </p:nvSpPr>
        <p:spPr>
          <a:xfrm>
            <a:off x="7744968" y="1572768"/>
            <a:ext cx="3611880" cy="448056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Maria's final score</a:t>
            </a:r>
          </a:p>
          <a:p>
            <a:pPr>
              <a:spcAft>
                <a:spcPts val="150"/>
              </a:spcAft>
              <a:defRPr sz="1200">
                <a:solidFill>
                  <a:srgbClr val="1B2025"/>
                </a:solidFill>
                <a:latin typeface="Aptos Mono"/>
              </a:defRPr>
            </a:pPr>
            <a:r>
              <a:t>RecScore = 0.45(1.0)</a:t>
            </a:r>
          </a:p>
          <a:p>
            <a:pPr>
              <a:spcAft>
                <a:spcPts val="150"/>
              </a:spcAft>
              <a:defRPr sz="1200">
                <a:solidFill>
                  <a:srgbClr val="1B2025"/>
                </a:solidFill>
                <a:latin typeface="Aptos Mono"/>
              </a:defRPr>
            </a:pPr>
            <a:r>
              <a:t>         + 0.22(1.0)</a:t>
            </a:r>
          </a:p>
          <a:p>
            <a:pPr>
              <a:spcAft>
                <a:spcPts val="150"/>
              </a:spcAft>
              <a:defRPr sz="1200">
                <a:solidFill>
                  <a:srgbClr val="1B2025"/>
                </a:solidFill>
                <a:latin typeface="Aptos Mono"/>
              </a:defRPr>
            </a:pPr>
            <a:r>
              <a:t>         + 0.05(0.9043)</a:t>
            </a:r>
          </a:p>
          <a:p>
            <a:pPr>
              <a:spcAft>
                <a:spcPts val="150"/>
              </a:spcAft>
              <a:defRPr sz="1200">
                <a:solidFill>
                  <a:srgbClr val="1B2025"/>
                </a:solidFill>
                <a:latin typeface="Aptos Mono"/>
              </a:defRPr>
            </a:pPr>
            <a:r>
              <a:t>         + 0.08(0.754)</a:t>
            </a:r>
          </a:p>
          <a:p>
            <a:pPr>
              <a:spcAft>
                <a:spcPts val="150"/>
              </a:spcAft>
              <a:defRPr sz="1200">
                <a:solidFill>
                  <a:srgbClr val="1B2025"/>
                </a:solidFill>
                <a:latin typeface="Aptos Mono"/>
              </a:defRPr>
            </a:pPr>
            <a:r>
              <a:t>         + 0.05(0.0)</a:t>
            </a:r>
          </a:p>
          <a:p>
            <a:pPr>
              <a:spcAft>
                <a:spcPts val="150"/>
              </a:spcAft>
              <a:defRPr sz="1200">
                <a:solidFill>
                  <a:srgbClr val="1B2025"/>
                </a:solidFill>
                <a:latin typeface="Aptos Mono"/>
              </a:defRPr>
            </a:pPr>
            <a:r>
              <a:t>         + 0.02(0.5)</a:t>
            </a:r>
          </a:p>
          <a:p>
            <a:pPr>
              <a:spcAft>
                <a:spcPts val="150"/>
              </a:spcAft>
              <a:defRPr sz="1200">
                <a:solidFill>
                  <a:srgbClr val="1B2025"/>
                </a:solidFill>
                <a:latin typeface="Aptos Mono"/>
              </a:defRPr>
            </a:pPr>
            <a:r>
              <a:t>         - 0.13(0.3)</a:t>
            </a:r>
          </a:p>
          <a:p>
            <a:pPr>
              <a:spcAft>
                <a:spcPts val="150"/>
              </a:spcAft>
              <a:defRPr sz="1200">
                <a:solidFill>
                  <a:srgbClr val="1B2025"/>
                </a:solidFill>
                <a:latin typeface="Aptos Mono"/>
              </a:defRPr>
            </a:pPr>
          </a:p>
          <a:p>
            <a:pPr>
              <a:spcAft>
                <a:spcPts val="150"/>
              </a:spcAft>
              <a:defRPr sz="1200">
                <a:solidFill>
                  <a:srgbClr val="1B2025"/>
                </a:solidFill>
                <a:latin typeface="Aptos Mono"/>
              </a:defRPr>
            </a:pPr>
            <a:r>
              <a:t>       = 0.7465</a:t>
            </a:r>
          </a:p>
          <a:p>
            <a:pPr>
              <a:spcAft>
                <a:spcPts val="150"/>
              </a:spcAft>
              <a:defRPr sz="1200">
                <a:solidFill>
                  <a:srgbClr val="1B2025"/>
                </a:solidFill>
                <a:latin typeface="Aptos Mono"/>
              </a:defRPr>
            </a:pPr>
            <a:r>
              <a:t>Displayed score: about 75/100</a:t>
            </a:r>
          </a:p>
          <a:p>
            <a:pPr>
              <a:defRPr sz="1000">
                <a:solidFill>
                  <a:srgbClr val="676E76"/>
                </a:solidFill>
                <a:latin typeface="Aptos"/>
              </a:defRPr>
            </a:pPr>
            <a:r>
              <a:t>Maria still ranks strongly because she has full straight-time headroom, strong Long-Term fit, short travel distance, and meaningful tenure.</a:t>
            </a:r>
          </a:p>
        </p:txBody>
      </p:sp>
      <p:sp>
        <p:nvSpPr>
          <p:cNvPr id="7" name="TextBox 6"/>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This is the exact style of one-employee calculation that makes the recommendation logic easy to explain.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What To Emphasize In Q&amp;A</a:t>
            </a:r>
          </a:p>
          <a:p>
            <a:r>
              <a:rPr sz="1100">
                <a:solidFill>
                  <a:srgbClr val="676E76"/>
                </a:solidFill>
                <a:latin typeface="Aptos"/>
              </a:rPr>
              <a:t>Three messages that make the demo land</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86384" y="1755648"/>
            <a:ext cx="3401568" cy="338328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1. Transparent math</a:t>
            </a:r>
          </a:p>
          <a:p>
            <a:pPr>
              <a:spcAft>
                <a:spcPts val="150"/>
              </a:spcAft>
              <a:defRPr sz="1100">
                <a:solidFill>
                  <a:srgbClr val="1B2025"/>
                </a:solidFill>
                <a:latin typeface="Aptos"/>
              </a:defRPr>
            </a:pPr>
            <a:r>
              <a:t>Each recommendation can be recalculated by hand.</a:t>
            </a:r>
          </a:p>
          <a:p>
            <a:pPr>
              <a:spcAft>
                <a:spcPts val="150"/>
              </a:spcAft>
              <a:defRPr sz="1100">
                <a:solidFill>
                  <a:srgbClr val="1B2025"/>
                </a:solidFill>
                <a:latin typeface="Aptos"/>
              </a:defRPr>
            </a:pPr>
            <a:r>
              <a:t>Weights are explicit and configurable.</a:t>
            </a:r>
          </a:p>
          <a:p>
            <a:pPr>
              <a:spcAft>
                <a:spcPts val="150"/>
              </a:spcAft>
              <a:defRPr sz="1100">
                <a:solidFill>
                  <a:srgbClr val="1B2025"/>
                </a:solidFill>
                <a:latin typeface="Aptos"/>
              </a:defRPr>
            </a:pPr>
            <a:r>
              <a:t>The logic is easier to validate with trainers and customers.</a:t>
            </a:r>
          </a:p>
        </p:txBody>
      </p:sp>
      <p:sp>
        <p:nvSpPr>
          <p:cNvPr id="5" name="Rounded Rectangle 4"/>
          <p:cNvSpPr/>
          <p:nvPr/>
        </p:nvSpPr>
        <p:spPr>
          <a:xfrm>
            <a:off x="4407408" y="1755648"/>
            <a:ext cx="3401568" cy="3383280"/>
          </a:xfrm>
          <a:prstGeom prst="roundRect">
            <a:avLst/>
          </a:prstGeom>
          <a:solidFill>
            <a:srgbClr val="E8F1EC"/>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2. Operational realism</a:t>
            </a:r>
          </a:p>
          <a:p>
            <a:pPr>
              <a:spcAft>
                <a:spcPts val="150"/>
              </a:spcAft>
              <a:defRPr sz="1100">
                <a:solidFill>
                  <a:srgbClr val="1B2025"/>
                </a:solidFill>
                <a:latin typeface="Aptos"/>
              </a:defRPr>
            </a:pPr>
            <a:r>
              <a:t>The engine works from current staffing data.</a:t>
            </a:r>
          </a:p>
          <a:p>
            <a:pPr>
              <a:spcAft>
                <a:spcPts val="150"/>
              </a:spcAft>
              <a:defRPr sz="1100">
                <a:solidFill>
                  <a:srgbClr val="1B2025"/>
                </a:solidFill>
                <a:latin typeface="Aptos"/>
              </a:defRPr>
            </a:pPr>
            <a:r>
              <a:t>True shortages stay visible.</a:t>
            </a:r>
          </a:p>
          <a:p>
            <a:pPr>
              <a:spcAft>
                <a:spcPts val="150"/>
              </a:spcAft>
              <a:defRPr sz="1100">
                <a:solidFill>
                  <a:srgbClr val="1B2025"/>
                </a:solidFill>
                <a:latin typeface="Aptos"/>
              </a:defRPr>
            </a:pPr>
            <a:r>
              <a:t>The system avoids hiding gaps with unsafe assignments.</a:t>
            </a:r>
          </a:p>
        </p:txBody>
      </p:sp>
      <p:sp>
        <p:nvSpPr>
          <p:cNvPr id="6" name="Rounded Rectangle 5"/>
          <p:cNvSpPr/>
          <p:nvPr/>
        </p:nvSpPr>
        <p:spPr>
          <a:xfrm>
            <a:off x="8028431" y="1755648"/>
            <a:ext cx="3273552" cy="3383280"/>
          </a:xfrm>
          <a:prstGeom prst="roundRect">
            <a:avLst/>
          </a:prstGeom>
          <a:solidFill>
            <a:srgbClr val="F5ECE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3. Human control</a:t>
            </a:r>
          </a:p>
          <a:p>
            <a:pPr>
              <a:spcAft>
                <a:spcPts val="150"/>
              </a:spcAft>
              <a:defRPr sz="1100">
                <a:solidFill>
                  <a:srgbClr val="1B2025"/>
                </a:solidFill>
                <a:latin typeface="Aptos"/>
              </a:defRPr>
            </a:pPr>
            <a:r>
              <a:t>The system recommends and explains.</a:t>
            </a:r>
          </a:p>
          <a:p>
            <a:pPr>
              <a:spcAft>
                <a:spcPts val="150"/>
              </a:spcAft>
              <a:defRPr sz="1100">
                <a:solidFill>
                  <a:srgbClr val="1B2025"/>
                </a:solidFill>
                <a:latin typeface="Aptos"/>
              </a:defRPr>
            </a:pPr>
            <a:r>
              <a:t>The coordinator still makes the final call.</a:t>
            </a:r>
          </a:p>
          <a:p>
            <a:pPr>
              <a:spcAft>
                <a:spcPts val="150"/>
              </a:spcAft>
              <a:defRPr sz="1100">
                <a:solidFill>
                  <a:srgbClr val="1B2025"/>
                </a:solidFill>
                <a:latin typeface="Aptos"/>
              </a:defRPr>
            </a:pPr>
            <a:r>
              <a:t>Override reasons can be logged for accountability.</a:t>
            </a:r>
          </a:p>
        </p:txBody>
      </p:sp>
      <p:sp>
        <p:nvSpPr>
          <p:cNvPr id="7" name="TextBox 6"/>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Suggested close: this is an explainable staffing engine, not a black box.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